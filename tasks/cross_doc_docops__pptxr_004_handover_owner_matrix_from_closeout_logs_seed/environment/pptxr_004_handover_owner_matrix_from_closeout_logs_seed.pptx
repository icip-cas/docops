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owner-matrix reference slide unchanged.</a:t>
            </a:r>
          </a:p>
          <a:p>
            <a:r>
              <a:t>Title slide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Counts must mirror the workbook values.</a:t>
            </a:r>
          </a:p>
          <a:p>
            <a:r>
              <a:t>Metrics should mirror workbook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the blocker table with the top owner blockers.</a:t>
            </a:r>
          </a:p>
          <a:p>
            <a:r>
              <a:t>Preserve table geometry.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closing slide after the inserted owner escalations.</a:t>
            </a:r>
          </a:p>
          <a:p>
            <a:r>
              <a:t>Preserve closing slide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slide; duplicate this layout for the inserted owner escalations slide.</a:t>
            </a:r>
          </a:p>
          <a:p>
            <a:r>
              <a:t>Preserve table geometry.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Arial"/>
              </a:defRPr>
            </a:pPr>
            <a:r>
              <a:t>Closeout Handover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1097280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Arial"/>
              </a:defRPr>
            </a:pPr>
            <a:r>
              <a:t>Workflow-locked handover reporting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61264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Keep the owner-matrix reference slide unchanged.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latin typeface="Arial"/>
              </a:defRPr>
            </a:pPr>
            <a:r>
              <a:t>Handover Status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2148840" cy="1280160"/>
          </a:xfrm>
          <a:prstGeom prst="roundRect">
            <a:avLst/>
          </a:prstGeom>
          <a:solidFill>
            <a:srgbClr val="DCEA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Arial"/>
              </a:defRPr>
            </a:pPr>
            <a:r>
              <a:t>Open Items</a:t>
            </a:r>
          </a:p>
          <a:p>
            <a:pPr>
              <a:defRPr sz="2400" b="1">
                <a:latin typeface="Arial"/>
              </a:defRPr>
            </a:pPr>
            <a:r>
              <a:t>[Fill]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63239" y="1417320"/>
            <a:ext cx="2148840" cy="1280160"/>
          </a:xfrm>
          <a:prstGeom prst="roundRect">
            <a:avLst/>
          </a:prstGeom>
          <a:solidFill>
            <a:srgbClr val="DCEA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Arial"/>
              </a:defRPr>
            </a:pPr>
            <a:r>
              <a:t>Late Items</a:t>
            </a:r>
          </a:p>
          <a:p>
            <a:pPr>
              <a:defRPr sz="2400" b="1">
                <a:latin typeface="Arial"/>
              </a:defRPr>
            </a:pPr>
            <a:r>
              <a:t>[Fill]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94959" y="1417320"/>
            <a:ext cx="2148840" cy="1280160"/>
          </a:xfrm>
          <a:prstGeom prst="roundRect">
            <a:avLst/>
          </a:prstGeom>
          <a:solidFill>
            <a:srgbClr val="DCEA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Arial"/>
              </a:defRPr>
            </a:pPr>
            <a:r>
              <a:t>Completed</a:t>
            </a:r>
          </a:p>
          <a:p>
            <a:pPr>
              <a:defRPr sz="2400" b="1">
                <a:latin typeface="Arial"/>
              </a:defRPr>
            </a:pPr>
            <a:r>
              <a:t>[Fill]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08076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Counts must mirror the workbook values.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132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Arial"/>
              </a:defRPr>
            </a:pPr>
            <a:r>
              <a:t>Outstanding Items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80160"/>
          <a:ext cx="7406640" cy="20848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468880"/>
                <a:gridCol w="2468880"/>
              </a:tblGrid>
              <a:tr h="521207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>
                    <a:solidFill>
                      <a:srgbClr val="384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>
                    <a:solidFill>
                      <a:srgbClr val="384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>
                    <a:solidFill>
                      <a:srgbClr val="384A5B"/>
                    </a:solidFill>
                  </a:tcPr>
                </a:tc>
              </a:tr>
              <a:tr h="521207">
                <a:tc>
                  <a:txBody>
                    <a:bodyPr/>
                    <a:lstStyle/>
                    <a:p>
                      <a:r>
                        <a:t>[Fill]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[Fill]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[Fill]</a:t>
                      </a:r>
                    </a:p>
                  </a:txBody>
                  <a:tcPr/>
                </a:tc>
              </a:tr>
              <a:tr h="521207">
                <a:tc>
                  <a:txBody>
                    <a:bodyPr/>
                    <a:lstStyle/>
                    <a:p>
                      <a:r>
                        <a:t>[Fill]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[Fill]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[Fill]</a:t>
                      </a:r>
                    </a:p>
                  </a:txBody>
                  <a:tcPr/>
                </a:tc>
              </a:tr>
              <a:tr h="521210">
                <a:tc>
                  <a:txBody>
                    <a:bodyPr/>
                    <a:lstStyle/>
                    <a:p>
                      <a:r>
                        <a:t>[Fill]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[Fill]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[Fill]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598932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Replace the blocker table with the top owner blockers.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132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Arial"/>
              </a:defRPr>
            </a:pPr>
            <a: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371600"/>
            <a:ext cx="658368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latin typeface="Arial"/>
              </a:defRPr>
            </a:pPr>
            <a:r>
              <a:t>Owner handover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8932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Keep the closing slide after the inserted owner escalations.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132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Arial"/>
              </a:defRPr>
            </a:pPr>
            <a:r>
              <a:t>Layout Reference - Owner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80160"/>
          <a:ext cx="7406640" cy="20848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468880"/>
                <a:gridCol w="2468880"/>
              </a:tblGrid>
              <a:tr h="521207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>
                    <a:solidFill>
                      <a:srgbClr val="384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>
                    <a:solidFill>
                      <a:srgbClr val="384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>
                    <a:solidFill>
                      <a:srgbClr val="384A5B"/>
                    </a:solidFill>
                  </a:tcPr>
                </a:tc>
              </a:tr>
              <a:tr h="521207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[Fill]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[Fill]</a:t>
                      </a:r>
                    </a:p>
                  </a:txBody>
                  <a:tcPr/>
                </a:tc>
              </a:tr>
              <a:tr h="521207"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[Fill]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[Fill]</a:t>
                      </a:r>
                    </a:p>
                  </a:txBody>
                  <a:tcPr/>
                </a:tc>
              </a:tr>
              <a:tr h="521210">
                <a:tc>
                  <a:txBody>
                    <a:bodyPr/>
                    <a:lstStyle/>
                    <a:p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[Fill]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[Fill]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598932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Reference slide; duplicate this layout for the inserted owner escalations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