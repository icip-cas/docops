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CAPA Audit Response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Draft working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863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C00000"/>
                </a:solidFill>
                <a:latin typeface="Arial"/>
              </a:rPr>
              <a:t>Status: Draft - reconcile against source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8046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Arial"/>
              </a:rPr>
              <a:t>Sources: capa_deviation_log.xlsx, audit_scope_note.docx, regulation_excerpt.pdf, evidence_index.xlsx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Internal Root Cause - Remove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Draft working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rial"/>
              </a:rPr>
              <a:t>Internal root cause: patient initials and unblinded lot notes appear in D-226 evidence. Do not publish.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Public CAPA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Draft working copy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987552"/>
          <a:ext cx="8686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71"/>
                <a:gridCol w="1240971"/>
                <a:gridCol w="1240971"/>
                <a:gridCol w="1240971"/>
                <a:gridCol w="1240971"/>
                <a:gridCol w="1240971"/>
                <a:gridCol w="1240974"/>
              </a:tblGrid>
              <a:tr h="512064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CAPA ID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Deviation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Clause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Due Date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Public Status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CAPA-17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D-203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ICH E6(R2) 5.1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P. Shah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2026-08-14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E-17A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CAPA-18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D-219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21 CFR Part 11.10(e)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M. Cruz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2026-09-01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E-18A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CAPA-21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D-226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ICH Q9(R1) 5.4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N. Patel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2026-07-20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E-21A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Closed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CAPA-24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D-241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ICH E6(R2) 4.9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L. Ortiz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2026-08-05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E-24A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222222"/>
                          </a:solidFill>
                          <a:latin typeface="Arial"/>
                        </a:rPr>
                        <a:t>Pending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Evidence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Draft working copy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15568"/>
          <a:ext cx="749807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Publishable CAPAs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CAPA-17, CAPA-18, CAPA-24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At Risk or Blocked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CAPA-17 and CAPA-24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Internal-only CAPAs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CAPA-21 excluded from deck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063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Arial"/>
              </a:rPr>
              <a:t>Do not publish internal-only evidence E-21A or D-226 temperature excursion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Draft working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15568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Arial"/>
              </a:rPr>
              <a:t>Four CAPAs are ready for publication.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82495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Arial"/>
              </a:rPr>
              <a:t>CAPA-21 should be listed because it is closed.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9424"/>
            <a:ext cx="7635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Arial"/>
              </a:rPr>
              <a:t>CAPA-24 status still pending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0312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Reference - Matrix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Draft working copy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170432"/>
          <a:ext cx="8686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71"/>
                <a:gridCol w="1240971"/>
                <a:gridCol w="1240971"/>
                <a:gridCol w="1240971"/>
                <a:gridCol w="1240971"/>
                <a:gridCol w="1240971"/>
                <a:gridCol w="1240974"/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CAPA ID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Deviation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Clause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Due Date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Public Status</a:t>
                      </a:r>
                    </a:p>
                  </a:txBody>
                  <a:tcPr marL="36576" marR="36576" marT="27432" marB="27432"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REF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D-000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Clause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YYYY-MM-DD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22222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6576" marR="36576" marT="27432" marB="27432">
                    <a:solidFill>
                      <a:srgbClr val="F8FB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4231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LOCKED TEMPLATE: preserve table columns and public-status vocabulary.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