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000000"/>
                </a:solidFill>
              </a:rPr>
              <a:t>3. Implementation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9601200" cy="2194560"/>
          </a:xfrm>
          <a:prstGeom prst="rect">
            <a:avLst/>
          </a:prstGeom>
          <a:noFill/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0">
                <a:solidFill>
                  <a:srgbClr val="000000"/>
                </a:solidFill>
              </a:rPr>
              <a:t>Install window, shutdown sequencing, and handover steps.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000000"/>
                </a:solidFill>
              </a:rPr>
              <a:t>1. 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9601200" cy="2194560"/>
          </a:xfrm>
          <a:prstGeom prst="rect">
            <a:avLst/>
          </a:prstGeom>
          <a:noFill/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0">
                <a:solidFill>
                  <a:srgbClr val="000000"/>
                </a:solidFill>
              </a:rPr>
              <a:t>Overall delay, commercial impact, and immediate decision needed.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000000"/>
                </a:solidFill>
              </a:rPr>
              <a:t>4. Appendix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9601200" cy="2194560"/>
          </a:xfrm>
          <a:prstGeom prst="rect">
            <a:avLst/>
          </a:prstGeom>
          <a:noFill/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0">
                <a:solidFill>
                  <a:srgbClr val="000000"/>
                </a:solidFill>
              </a:rPr>
              <a:t>Reference notes, contacts, and spare observations.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000000"/>
                </a:solidFill>
              </a:rPr>
              <a:t>2. Root Cause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9601200" cy="2194560"/>
          </a:xfrm>
          <a:prstGeom prst="rect">
            <a:avLst/>
          </a:prstGeom>
          <a:noFill/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0">
                <a:solidFill>
                  <a:srgbClr val="000000"/>
                </a:solidFill>
              </a:rPr>
              <a:t>Paperwork delay, unclear shutdown ownership, and vendor gaps.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