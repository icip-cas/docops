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image" Target="../media/image2.jpeg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image" Target="../media/image3.png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image" Target="../media/image4.jpeg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image" Target="../media/image1.png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组-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 flipH="1">
            <a:off x="-9525" y="476"/>
            <a:ext cx="9153525" cy="5152549"/>
          </a:xfrm>
          <a:prstGeom prst="rect">
            <a:avLst/>
          </a:prstGeom>
        </p:spPr>
      </p:pic>
      <p:sp>
        <p:nvSpPr>
          <p:cNvPr id="9" name="副标题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607218" y="2230755"/>
            <a:ext cx="5664994" cy="374333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8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dirty="0">
                <a:sym typeface="+mn-ea"/>
              </a:rPr>
              <a:t>单击编辑副标题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5"/>
            </p:custDataLst>
          </p:nvPr>
        </p:nvSpPr>
        <p:spPr>
          <a:xfrm>
            <a:off x="607695" y="1516856"/>
            <a:ext cx="5664994" cy="748189"/>
          </a:xfrm>
          <a:prstGeom prst="rect">
            <a:avLst/>
          </a:prstGeom>
          <a:noFill/>
        </p:spPr>
        <p:txBody>
          <a:bodyPr wrap="square" lIns="91440" tIns="0" rIns="9144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90000"/>
              </a:lnSpc>
              <a:buClrTx/>
              <a:buSzTx/>
              <a:buFontTx/>
              <a:buNone/>
              <a:defRPr kumimoji="0" lang="zh-CN" altLang="en-US" sz="495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75799" y="2834640"/>
            <a:ext cx="1373505" cy="36814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70000">
                <a:schemeClr val="accent1"/>
              </a:gs>
            </a:gsLst>
            <a:lin ang="5400000" scaled="0"/>
          </a:gradFill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050" b="0" i="0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 dirty="0">
                <a:sym typeface="+mn-ea"/>
              </a:rPr>
              <a:t>署名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459000" y="4735800"/>
            <a:ext cx="2025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3087000" y="4735800"/>
            <a:ext cx="297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658200" y="4735800"/>
            <a:ext cx="2025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21970" y="929986"/>
            <a:ext cx="8100000" cy="37572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sym typeface="+mn-ea"/>
              </a:defRPr>
            </a:lvl1pPr>
            <a:lvl2pPr>
              <a:defRPr lang="zh-CN" altLang="en-US" dirty="0">
                <a:sym typeface="+mn-ea"/>
              </a:defRPr>
            </a:lvl2pPr>
            <a:lvl3pPr>
              <a:defRPr lang="zh-CN" altLang="en-US" dirty="0">
                <a:sym typeface="+mn-ea"/>
              </a:defRPr>
            </a:lvl3pPr>
            <a:lvl4pPr>
              <a:defRPr lang="zh-CN" altLang="en-US" dirty="0">
                <a:sym typeface="+mn-ea"/>
              </a:defRPr>
            </a:lvl4pPr>
            <a:lvl5pPr>
              <a:defRPr lang="zh-CN" altLang="en-US" dirty="0">
                <a:sym typeface="+mn-ea"/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459000" y="4735800"/>
            <a:ext cx="2025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87000" y="4735800"/>
            <a:ext cx="297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658200" y="4735800"/>
            <a:ext cx="2025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图片 46" descr="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612934" y="259023"/>
            <a:ext cx="1395413" cy="70532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Tx/>
              <a:buSzTx/>
              <a:buFontTx/>
              <a:buNone/>
              <a:defRPr kumimoji="0" lang="zh-CN" altLang="en-US" sz="45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effectLst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indent="0" algn="l" fontAlgn="auto">
              <a:lnSpc>
                <a:spcPct val="100000"/>
              </a:lnSpc>
              <a:spcAft>
                <a:spcPts val="1200"/>
              </a:spcAft>
              <a:buClrTx/>
              <a:buSzTx/>
              <a:buFontTx/>
            </a:pPr>
            <a:r>
              <a:rPr>
                <a:sym typeface="+mn-ea"/>
              </a:rPr>
              <a:t>标题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459000" y="4735800"/>
            <a:ext cx="2025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4735800"/>
            <a:ext cx="297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658200" y="4735800"/>
            <a:ext cx="2025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xiezuo20230421-20485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645319" y="1304925"/>
            <a:ext cx="3690461" cy="126396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8625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  <a:tileRect t="-100000" r="-10000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 fontAlgn="ctr">
              <a:lnSpc>
                <a:spcPct val="100000"/>
              </a:lnSpc>
              <a:buClrTx/>
              <a:buSzTx/>
              <a:buFontTx/>
            </a:pPr>
            <a:r>
              <a:rPr>
                <a:sym typeface="+mn-ea"/>
              </a:rPr>
              <a:t>编号</a:t>
            </a:r>
            <a:endParaRPr>
              <a:sym typeface="+mn-ea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645319" y="2574131"/>
            <a:ext cx="3689985" cy="1280636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0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 fontAlgn="ct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459000" y="4735800"/>
            <a:ext cx="2025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087000" y="4735800"/>
            <a:ext cx="297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658200" y="4735800"/>
            <a:ext cx="2025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文"/>
          <p:cNvSpPr txBox="1">
            <a:spLocks noGrp="1"/>
          </p:cNvSpPr>
          <p:nvPr>
            <p:ph idx="2"/>
            <p:custDataLst>
              <p:tags r:id="rId2"/>
            </p:custDataLst>
          </p:nvPr>
        </p:nvSpPr>
        <p:spPr>
          <a:xfrm>
            <a:off x="4800600" y="950768"/>
            <a:ext cx="3821430" cy="3736484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21970" y="950768"/>
            <a:ext cx="3816668" cy="3736484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459000" y="4735800"/>
            <a:ext cx="2025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4735800"/>
            <a:ext cx="297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658200" y="4735800"/>
            <a:ext cx="2025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2"/>
            </p:custDataLst>
          </p:nvPr>
        </p:nvSpPr>
        <p:spPr>
          <a:xfrm>
            <a:off x="521100" y="270000"/>
            <a:ext cx="8100000" cy="540000"/>
          </a:xfrm>
          <a:prstGeom prst="rect">
            <a:avLst/>
          </a:prstGeom>
          <a:noFill/>
        </p:spPr>
        <p:txBody>
          <a:bodyPr wrap="square" lIns="107950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1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3"/>
            </p:custDataLst>
          </p:nvPr>
        </p:nvSpPr>
        <p:spPr>
          <a:xfrm>
            <a:off x="4676299" y="1406387"/>
            <a:ext cx="3944801" cy="328086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MiSans Normal" panose="00000500000000000000" charset="-122"/>
                <a:ea typeface="MiSans Normal" panose="00000500000000000000" charset="-122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MiSans Normal" panose="00000500000000000000" charset="-122"/>
                <a:ea typeface="MiSans Normal" panose="00000500000000000000" charset="-122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MiSans Normal" panose="00000500000000000000" charset="-122"/>
                <a:ea typeface="MiSans Normal" panose="00000500000000000000" charset="-122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MiSans Normal" panose="00000500000000000000" charset="-122"/>
                <a:ea typeface="MiSans Normal" panose="00000500000000000000" charset="-122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4"/>
            </p:custDataLst>
          </p:nvPr>
        </p:nvSpPr>
        <p:spPr>
          <a:xfrm>
            <a:off x="4676299" y="858548"/>
            <a:ext cx="3946601" cy="444341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5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1" name="正文"/>
          <p:cNvSpPr txBox="1">
            <a:spLocks noGrp="1"/>
          </p:cNvSpPr>
          <p:nvPr>
            <p:ph idx="2"/>
            <p:custDataLst>
              <p:tags r:id="rId5"/>
            </p:custDataLst>
          </p:nvPr>
        </p:nvSpPr>
        <p:spPr>
          <a:xfrm>
            <a:off x="522900" y="1406387"/>
            <a:ext cx="3940039" cy="328086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6"/>
            </p:custDataLst>
          </p:nvPr>
        </p:nvSpPr>
        <p:spPr>
          <a:xfrm>
            <a:off x="521100" y="858548"/>
            <a:ext cx="3941839" cy="444341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5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459000" y="4735800"/>
            <a:ext cx="2025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3087000" y="4735800"/>
            <a:ext cx="297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658200" y="4735800"/>
            <a:ext cx="2025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59000" y="4735800"/>
            <a:ext cx="2025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4735800"/>
            <a:ext cx="297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658200" y="4735800"/>
            <a:ext cx="2025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21970" y="270034"/>
            <a:ext cx="8101489" cy="4363403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rgbClr val="000000"/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rgbClr val="000000"/>
                </a:solidFill>
                <a:uFillTx/>
                <a:latin typeface="+mn-ea"/>
                <a:ea typeface="+mn-ea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200" b="0" i="0" u="none" strike="noStrike" cap="none" spc="150" normalizeH="0" baseline="0">
                <a:solidFill>
                  <a:srgbClr val="000000"/>
                </a:solidFill>
                <a:uFillTx/>
                <a:latin typeface="+mn-ea"/>
                <a:ea typeface="+mn-ea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rgbClr val="000000"/>
                </a:solidFill>
                <a:uFillTx/>
                <a:latin typeface="+mn-ea"/>
                <a:ea typeface="+mn-ea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050" b="0" i="0" u="none" strike="noStrike" cap="none" spc="150" normalizeH="0" baseline="0">
                <a:solidFill>
                  <a:srgbClr val="000000"/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459000" y="4735800"/>
            <a:ext cx="2025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87000" y="4735800"/>
            <a:ext cx="297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658200" y="4735800"/>
            <a:ext cx="2025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521970" y="976313"/>
            <a:ext cx="8099316" cy="30416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500" b="0" i="0" u="none" strike="noStrike" kern="1200" cap="none" spc="300" normalizeH="0" baseline="0" noProof="1" dirty="0">
                <a:solidFill>
                  <a:srgbClr val="000000"/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 algn="l"/>
            <a:r>
              <a:rPr dirty="0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459000" y="4735800"/>
            <a:ext cx="2025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4735800"/>
            <a:ext cx="297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658200" y="4735800"/>
            <a:ext cx="2025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组-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副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3737134" y="1891189"/>
            <a:ext cx="4694873" cy="66960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altLang="zh-CN" sz="50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r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单击编辑标题</a:t>
            </a:r>
            <a:endParaRPr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7058501" y="2807970"/>
            <a:ext cx="1373505" cy="36814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70000">
                <a:schemeClr val="accent1"/>
              </a:gs>
            </a:gsLst>
            <a:lin ang="5400000" scaled="0"/>
          </a:gradFill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050" b="1" i="0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 dirty="0">
                <a:sym typeface="+mn-ea"/>
              </a:rPr>
              <a:t>署名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459000" y="4735800"/>
            <a:ext cx="2025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087000" y="4735800"/>
            <a:ext cx="297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658200" y="4735800"/>
            <a:ext cx="2025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68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67.xml"/><Relationship Id="rId18" Type="http://schemas.openxmlformats.org/officeDocument/2006/relationships/tags" Target="../tags/tag66.xml"/><Relationship Id="rId17" Type="http://schemas.openxmlformats.org/officeDocument/2006/relationships/tags" Target="../tags/tag65.xml"/><Relationship Id="rId16" Type="http://schemas.openxmlformats.org/officeDocument/2006/relationships/tags" Target="../tags/tag64.xml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image" Target="../media/image4.jpeg"/><Relationship Id="rId12" Type="http://schemas.openxmlformats.org/officeDocument/2006/relationships/tags" Target="../tags/tag6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4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521970" y="4767263"/>
            <a:ext cx="2057400" cy="273844"/>
          </a:xfrm>
        </p:spPr>
        <p:txBody>
          <a:bodyPr/>
          <a:lstStyle>
            <a:lvl1pPr>
              <a:defRPr>
                <a:cs typeface="MiSans Normal" panose="00000500000000000000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>
            <a:lvl1pPr>
              <a:defRPr>
                <a:cs typeface="MiSans Normal" panose="000005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6565487" y="4767263"/>
            <a:ext cx="2057400" cy="273844"/>
          </a:xfrm>
        </p:spPr>
        <p:txBody>
          <a:bodyPr/>
          <a:lstStyle>
            <a:lvl1pPr>
              <a:defRPr>
                <a:cs typeface="MiSans Normal" panose="000005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521970" y="270000"/>
            <a:ext cx="8100000" cy="540000"/>
          </a:xfrm>
          <a:prstGeom prst="rect">
            <a:avLst/>
          </a:prstGeom>
          <a:noFill/>
        </p:spPr>
        <p:txBody>
          <a:bodyPr vert="horz" wrap="square" lIns="107950" tIns="0" rIns="91440" bIns="0" rtlCol="0" anchor="b" anchorCtr="0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521970" y="976312"/>
            <a:ext cx="8100000" cy="365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 sz="1350"/>
          </a:p>
        </p:txBody>
      </p:sp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2400" b="0" i="0" u="none" strike="noStrike" kern="1200" cap="none" spc="0" normalizeH="0" baseline="0" dirty="0" smtClean="0"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uFillTx/>
          <a:latin typeface="+mj-ea"/>
          <a:ea typeface="+mj-ea"/>
          <a:cs typeface="MiSans Normal" panose="00000500000000000000" charset="-122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kumimoji="0" lang="zh-CN" altLang="en-US" sz="1350" b="0" i="0" u="none" strike="noStrike" kern="1200" cap="none" spc="150" normalizeH="0" baseline="0">
          <a:ln>
            <a:noFill/>
            <a:prstDash val="sysDot"/>
          </a:ln>
          <a:solidFill>
            <a:srgbClr val="000000"/>
          </a:solidFill>
          <a:uFillTx/>
          <a:latin typeface="微软雅黑" charset="-122"/>
          <a:ea typeface="微软雅黑" charset="-122"/>
          <a:cs typeface="MiSans Normal" panose="00000500000000000000" charset="-122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207135" algn="l"/>
          <a:tab pos="1207135" algn="l"/>
        </a:tabLst>
        <a:defRPr kumimoji="0" lang="zh-CN" altLang="en-US" sz="1200" b="0" i="0" u="none" strike="noStrike" kern="1200" cap="none" spc="150" normalizeH="0" baseline="0">
          <a:solidFill>
            <a:srgbClr val="000000"/>
          </a:solidFill>
          <a:uFillTx/>
          <a:latin typeface="微软雅黑" charset="-122"/>
          <a:ea typeface="微软雅黑" charset="-122"/>
          <a:cs typeface="MiSans Normal" panose="00000500000000000000" charset="-122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kumimoji="0" lang="zh-CN" altLang="en-US" sz="1200" b="0" i="0" u="none" strike="noStrike" kern="1200" cap="none" spc="150" normalizeH="0" baseline="0">
          <a:solidFill>
            <a:srgbClr val="000000"/>
          </a:solidFill>
          <a:uFillTx/>
          <a:latin typeface="微软雅黑" charset="-122"/>
          <a:ea typeface="微软雅黑" charset="-122"/>
          <a:cs typeface="MiSans Normal" panose="00000500000000000000" charset="-122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200" b="0" i="0" u="none" strike="noStrike" kern="1200" cap="none" spc="150" normalizeH="0" baseline="0">
          <a:solidFill>
            <a:srgbClr val="000000"/>
          </a:solidFill>
          <a:uFillTx/>
          <a:latin typeface="微软雅黑" charset="-122"/>
          <a:ea typeface="微软雅黑" charset="-122"/>
          <a:cs typeface="MiSans Normal" panose="00000500000000000000" charset="-122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kumimoji="0" lang="zh-CN" altLang="en-US" sz="1200" b="0" i="0" u="none" strike="noStrike" kern="1200" cap="none" spc="150" normalizeH="0" baseline="0">
          <a:solidFill>
            <a:srgbClr val="000000"/>
          </a:solidFill>
          <a:uFillTx/>
          <a:latin typeface="微软雅黑" charset="-122"/>
          <a:ea typeface="微软雅黑" charset="-122"/>
          <a:cs typeface="MiSans Normal" panose="00000500000000000000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438912" y="713232"/>
            <a:ext cx="511810" cy="26035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r>
              <a:rPr sz="1100" b="0">
                <a:solidFill>
                  <a:schemeClr val="tx1"/>
                </a:solidFill>
              </a:rPr>
              <a:t>Draft</a:t>
            </a:r>
            <a:endParaRPr sz="1100" b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640080" y="1325880"/>
            <a:ext cx="4545965" cy="36830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r>
              <a:rPr sz="1800" b="1">
                <a:solidFill>
                  <a:schemeClr val="accent1">
                    <a:lumMod val="50000"/>
                  </a:schemeClr>
                </a:solidFill>
              </a:rPr>
              <a:t>Status: Draft - update from source files</a:t>
            </a:r>
            <a:endParaRPr sz="1800" b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640080" y="4389120"/>
            <a:ext cx="5251450" cy="22987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r>
              <a:rPr sz="900" b="0">
                <a:solidFill>
                  <a:schemeClr val="tx1"/>
                </a:solidFill>
              </a:rPr>
              <a:t>Source set: renewal_risk_source.xlsx, account_owner_notes.docx, finance_exception_notice.pdf</a:t>
            </a:r>
            <a:endParaRPr sz="900" b="0">
              <a:solidFill>
                <a:schemeClr val="tx1"/>
              </a:solidFill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noFill/>
        </p:spPr>
        <p:txBody>
          <a:bodyPr vert="horz" wrap="square" lIns="107950" tIns="0" rIns="9144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QBR Renewal Readout</a:t>
            </a:r>
            <a:endParaRPr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438912" y="713232"/>
            <a:ext cx="511810" cy="26035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r>
              <a:rPr sz="1100" b="0">
                <a:solidFill>
                  <a:schemeClr val="tx1"/>
                </a:solidFill>
              </a:rPr>
              <a:t>Draft</a:t>
            </a:r>
            <a:endParaRPr sz="1100" b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640080" y="1280160"/>
            <a:ext cx="6203950" cy="36830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r>
              <a:rPr sz="1800" b="1">
                <a:solidFill>
                  <a:schemeClr val="accent1">
                    <a:lumMod val="50000"/>
                  </a:schemeClr>
                </a:solidFill>
              </a:rPr>
              <a:t>Internal scratch notes. Do not include in final live deck.</a:t>
            </a:r>
            <a:endParaRPr sz="1800" b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noFill/>
        </p:spPr>
        <p:txBody>
          <a:bodyPr vert="horz" wrap="square" lIns="107950" tIns="0" rIns="9144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Draft Scratch - Remove</a:t>
            </a:r>
            <a:endParaRPr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438912" y="713232"/>
            <a:ext cx="511810" cy="26035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r>
              <a:rPr sz="1100" b="0">
                <a:solidFill>
                  <a:schemeClr val="tx1"/>
                </a:solidFill>
              </a:rPr>
              <a:t>Draft</a:t>
            </a:r>
            <a:endParaRPr sz="1100" b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11480" y="1143000"/>
          <a:ext cx="83210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chemeClr val="bg1"/>
                          </a:solidFill>
                        </a:rPr>
                        <a:t>Account</a:t>
                      </a:r>
                      <a:endParaRPr sz="10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chemeClr val="bg1"/>
                          </a:solidFill>
                        </a:rPr>
                        <a:t>ARR</a:t>
                      </a:r>
                      <a:endParaRPr sz="10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chemeClr val="bg1"/>
                          </a:solidFill>
                        </a:rPr>
                        <a:t>Renewal Window</a:t>
                      </a:r>
                      <a:endParaRPr sz="10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chemeClr val="bg1"/>
                          </a:solidFill>
                        </a:rPr>
                        <a:t>Risk</a:t>
                      </a:r>
                      <a:endParaRPr sz="10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chemeClr val="bg1"/>
                          </a:solidFill>
                        </a:rPr>
                        <a:t>Owner</a:t>
                      </a:r>
                      <a:endParaRPr sz="10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Northstar Bank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$2.10M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2026-08-15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Hold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P. Shah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Zenith Foods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$1.20M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2026-08-22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Watch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M. Cruz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Orion Logistics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$0.85M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2026-09-05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Ready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L. Ortiz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5" name="标题 4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noFill/>
        </p:spPr>
        <p:txBody>
          <a:bodyPr vert="horz" wrap="square" lIns="107950" tIns="0" rIns="9144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Renewal Risk Table</a:t>
            </a:r>
            <a:endParaRPr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438912" y="713232"/>
            <a:ext cx="511810" cy="26035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r>
              <a:rPr sz="1100" b="0">
                <a:solidFill>
                  <a:schemeClr val="tx1"/>
                </a:solidFill>
              </a:rPr>
              <a:t>Draft</a:t>
            </a:r>
            <a:endParaRPr sz="1100" b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777240" y="1143000"/>
            <a:ext cx="3609975" cy="33718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r>
              <a:rPr sz="1600" b="0">
                <a:solidFill>
                  <a:schemeClr val="tx1"/>
                </a:solidFill>
              </a:rPr>
              <a:t>Replace with three summary bullets.</a:t>
            </a:r>
            <a:endParaRPr sz="1600" b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777240" y="1709928"/>
            <a:ext cx="4152900" cy="33718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r>
              <a:rPr sz="1600" b="0">
                <a:solidFill>
                  <a:schemeClr val="tx1"/>
                </a:solidFill>
              </a:rPr>
              <a:t>Zenith Foods ARR is still showing $1.20M.</a:t>
            </a:r>
            <a:endParaRPr sz="1600" b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777240" y="2276856"/>
            <a:ext cx="3823970" cy="33718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r>
              <a:rPr sz="1600" b="0">
                <a:solidFill>
                  <a:schemeClr val="tx1"/>
                </a:solidFill>
              </a:rPr>
              <a:t>Northstar Bank currently marked Hold.</a:t>
            </a:r>
            <a:endParaRPr sz="1600" b="0">
              <a:solidFill>
                <a:schemeClr val="tx1"/>
              </a:solidFill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noFill/>
        </p:spPr>
        <p:txBody>
          <a:bodyPr vert="horz" wrap="square" lIns="107950" tIns="0" rIns="9144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Executive Summary</a:t>
            </a:r>
            <a:endParaRPr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438912" y="713232"/>
            <a:ext cx="511810" cy="26035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r>
              <a:rPr sz="1100" b="0">
                <a:solidFill>
                  <a:schemeClr val="tx1"/>
                </a:solidFill>
              </a:rPr>
              <a:t>Draft</a:t>
            </a:r>
            <a:endParaRPr sz="1100" b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20040" y="1097280"/>
          <a:ext cx="850392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84"/>
                <a:gridCol w="1700784"/>
                <a:gridCol w="1700784"/>
                <a:gridCol w="1700784"/>
                <a:gridCol w="1700784"/>
              </a:tblGrid>
              <a:tr h="53721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chemeClr val="bg1"/>
                          </a:solidFill>
                        </a:rPr>
                        <a:t>Action ID</a:t>
                      </a:r>
                      <a:endParaRPr sz="10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chemeClr val="bg1"/>
                          </a:solidFill>
                        </a:rPr>
                        <a:t>Account</a:t>
                      </a:r>
                      <a:endParaRPr sz="10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chemeClr val="bg1"/>
                          </a:solidFill>
                        </a:rPr>
                        <a:t>Action</a:t>
                      </a:r>
                      <a:endParaRPr sz="10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chemeClr val="bg1"/>
                          </a:solidFill>
                        </a:rPr>
                        <a:t>Owner</a:t>
                      </a:r>
                      <a:endParaRPr sz="10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chemeClr val="bg1"/>
                          </a:solidFill>
                        </a:rPr>
                        <a:t>Status</a:t>
                      </a:r>
                      <a:endParaRPr sz="10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A-17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Northstar Bank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Review legal addendum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P. Shah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Hold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A-23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Zenith Foods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Check pricing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M. Cruz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Watch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A-31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Orion Logistics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Confirm packet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L. Ortiz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Ready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5" name="标题 4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noFill/>
        </p:spPr>
        <p:txBody>
          <a:bodyPr vert="horz" wrap="square" lIns="107950" tIns="0" rIns="9144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Action Register</a:t>
            </a:r>
            <a:endParaRPr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640080" y="1280160"/>
            <a:ext cx="7416165" cy="36830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r>
              <a:rPr sz="1800" b="1">
                <a:solidFill>
                  <a:schemeClr val="accent1">
                    <a:lumMod val="50000"/>
                  </a:schemeClr>
                </a:solidFill>
              </a:rPr>
              <a:t>LOCKED LAYOUT: duplicate this slide when creating risk callouts.</a:t>
            </a:r>
            <a:endParaRPr sz="1800" b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822960" y="2011680"/>
            <a:ext cx="4624070" cy="321945"/>
          </a:xfrm>
          <a:prstGeom prst="rect">
            <a:avLst/>
          </a:prstGeom>
          <a:noFill/>
        </p:spPr>
        <p:txBody>
          <a:bodyPr wrap="square">
            <a:normAutofit fontScale="90000" lnSpcReduction="20000"/>
          </a:bodyPr>
          <a:lstStyle/>
          <a:p>
            <a:r>
              <a:rPr sz="1500" b="0">
                <a:solidFill>
                  <a:schemeClr val="tx1"/>
                </a:solidFill>
              </a:rPr>
              <a:t>Risk headline placeholder | Risk detail placeholder</a:t>
            </a:r>
            <a:endParaRPr sz="1500" b="0">
              <a:solidFill>
                <a:schemeClr val="tx1"/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noFill/>
        </p:spPr>
        <p:txBody>
          <a:bodyPr vert="horz" wrap="square" lIns="107950" tIns="0" rIns="9144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Reference - Risk Callout</a:t>
            </a:r>
            <a:endParaRPr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438912" y="713232"/>
            <a:ext cx="511810" cy="26035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r>
              <a:rPr sz="1100" b="0">
                <a:solidFill>
                  <a:schemeClr val="tx1"/>
                </a:solidFill>
              </a:rPr>
              <a:t>Draft</a:t>
            </a:r>
            <a:endParaRPr sz="1100" b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20040" y="1097280"/>
          <a:ext cx="850392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84"/>
                <a:gridCol w="1700784"/>
                <a:gridCol w="1700784"/>
                <a:gridCol w="1700784"/>
                <a:gridCol w="1700784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chemeClr val="bg1"/>
                          </a:solidFill>
                        </a:rPr>
                        <a:t>Action ID</a:t>
                      </a:r>
                      <a:endParaRPr sz="10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chemeClr val="bg1"/>
                          </a:solidFill>
                        </a:rPr>
                        <a:t>Account</a:t>
                      </a:r>
                      <a:endParaRPr sz="10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chemeClr val="bg1"/>
                          </a:solidFill>
                        </a:rPr>
                        <a:t>Action</a:t>
                      </a:r>
                      <a:endParaRPr sz="10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chemeClr val="bg1"/>
                          </a:solidFill>
                        </a:rPr>
                        <a:t>Owner</a:t>
                      </a:r>
                      <a:endParaRPr sz="10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chemeClr val="bg1"/>
                          </a:solidFill>
                        </a:rPr>
                        <a:t>Status</a:t>
                      </a:r>
                      <a:endParaRPr sz="10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REF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Account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Action text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Owner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chemeClr val="tx1"/>
                          </a:solidFill>
                        </a:rPr>
                        <a:t>Status</a:t>
                      </a:r>
                      <a:endParaRPr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5" name="标题 4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noFill/>
        </p:spPr>
        <p:txBody>
          <a:bodyPr vert="horz" wrap="square" lIns="107950" tIns="0" rIns="9144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Reference - Action Table</a:t>
            </a:r>
            <a:endParaRPr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 WPS,a click to unlimited possibilitie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CONTENT_GROUP_TYPE" val="contentchip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标题内容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4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  <p:tag name="KSO_WM_UNIT_CONTENT_GROUP_TYPE" val="contentchip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2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3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3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3.0"/>
</p:tagLst>
</file>

<file path=ppt/tags/tag5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YOU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  <p:tag name="KSO_WM_UNIT_VALUE" val="8"/>
</p:tagLst>
</file>

<file path=ppt/tags/tag57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  <p:tag name="KSO_WM_UNIT_CONTENT_GROUP_TYPE" val="contentchip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44"/>
</p:tagLst>
</file>

<file path=ppt/tags/tag67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244"/>
  <p:tag name="KSO_WM_TEMPLATE_THUMBS_INDEX" val="1、11"/>
</p:tagLst>
</file>

<file path=ppt/tags/tag6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5"/>
  <p:tag name="KSO_WM_TEMPLATE_MASTER_TYPE" val="0"/>
  <p:tag name="KSO_WM_TEMPLATE_COLOR_TYPE" val="1"/>
  <p:tag name="KSO_WM_UNIT_SHOW_EDIT_AREA_INDICATION" val="1"/>
</p:tagLst>
</file>

<file path=ppt/tags/tag69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70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71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SLIDE_TYPE" val="text"/>
  <p:tag name="KSO_WM_BEAUTIFY_FLAG" val="#wm#"/>
  <p:tag name="KSO_WM_SLIDE_ID" val="custom20230244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TEMPLATE_CATEGORY" val="custom"/>
  <p:tag name="KSO_WM_TEMPLATE_INDEX" val="20230244"/>
  <p:tag name="KSO_WM_SLIDE_SUBTYPE" val="pureTxt"/>
  <p:tag name="KSO_WM_SLIDE_SIZE" val="863*466"/>
  <p:tag name="KSO_WM_SLIDE_POSITION" val="47*25"/>
  <p:tag name="KSO_WM_SLIDE_LAYOUT" val="a_f"/>
  <p:tag name="KSO_WM_SLIDE_LAYOUT_CNT" val="1_1"/>
  <p:tag name="KSO_WM_SPECIAL_SOURCE" val="bdnull"/>
  <p:tag name="KSO_WM_SLIDE_LAYOUT_NAME" val="标题和内容"/>
  <p:tag name="KSO_WM_SLIDE_THEME_ID" val="3302934"/>
  <p:tag name="KSO_WM_SLIDE_THEME_NAME" val="蓝色简约风主题"/>
</p:tagLst>
</file>

<file path=ppt/tags/tag74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75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76.xml><?xml version="1.0" encoding="utf-8"?>
<p:tagLst xmlns:p="http://schemas.openxmlformats.org/presentationml/2006/main">
  <p:tag name="KSO_WM_UNIT_TEXT" val="QBR Renewal Readout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77.xml><?xml version="1.0" encoding="utf-8"?>
<p:tagLst xmlns:p="http://schemas.openxmlformats.org/presentationml/2006/main">
  <p:tag name="KSO_WM_SLIDE_TYPE" val="text"/>
  <p:tag name="KSO_WM_BEAUTIFY_FLAG" val="#wm#"/>
  <p:tag name="KSO_WM_SLIDE_ID" val="custom20230244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TEMPLATE_CATEGORY" val="custom"/>
  <p:tag name="KSO_WM_TEMPLATE_INDEX" val="20230244"/>
  <p:tag name="KSO_WM_SLIDE_SUBTYPE" val="pureTxt"/>
  <p:tag name="KSO_WM_SLIDE_SIZE" val="863*466"/>
  <p:tag name="KSO_WM_SLIDE_POSITION" val="47*25"/>
  <p:tag name="KSO_WM_SLIDE_LAYOUT" val="a_f"/>
  <p:tag name="KSO_WM_SLIDE_LAYOUT_CNT" val="1_1"/>
  <p:tag name="KSO_WM_SPECIAL_SOURCE" val="bdnull"/>
  <p:tag name="KSO_WM_SLIDE_LAYOUT_NAME" val="标题和内容"/>
</p:tagLst>
</file>

<file path=ppt/tags/tag78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79.xml><?xml version="1.0" encoding="utf-8"?>
<p:tagLst xmlns:p="http://schemas.openxmlformats.org/presentationml/2006/main">
  <p:tag name="KSO_WM_UNIT_INDEX" val="3"/>
  <p:tag name="KSO_WM_UNIT_TYPE" val="β"/>
  <p:tag name="KSO_WM_BEAUTIFY_FLAG" val="#wm#"/>
</p:tagLst>
</file>

<file path=ppt/tags/tag80.xml><?xml version="1.0" encoding="utf-8"?>
<p:tagLst xmlns:p="http://schemas.openxmlformats.org/presentationml/2006/main">
  <p:tag name="KSO_WM_UNIT_TEXT" val="Draft Scratch - Remov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81.xml><?xml version="1.0" encoding="utf-8"?>
<p:tagLst xmlns:p="http://schemas.openxmlformats.org/presentationml/2006/main">
  <p:tag name="KSO_WM_SLIDE_TYPE" val="text"/>
  <p:tag name="KSO_WM_BEAUTIFY_FLAG" val="#wm#"/>
  <p:tag name="KSO_WM_SLIDE_ID" val="custom20230244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TEMPLATE_CATEGORY" val="custom"/>
  <p:tag name="KSO_WM_TEMPLATE_INDEX" val="20230244"/>
  <p:tag name="KSO_WM_SLIDE_SUBTYPE" val="pureTxt"/>
  <p:tag name="KSO_WM_SLIDE_SIZE" val="863*466"/>
  <p:tag name="KSO_WM_SLIDE_POSITION" val="47*25"/>
  <p:tag name="KSO_WM_SLIDE_LAYOUT" val="a_f"/>
  <p:tag name="KSO_WM_SLIDE_LAYOUT_CNT" val="1_1"/>
  <p:tag name="KSO_WM_SPECIAL_SOURCE" val="bdnull"/>
  <p:tag name="KSO_WM_SLIDE_LAYOUT_NAME" val="标题和内容"/>
</p:tagLst>
</file>

<file path=ppt/tags/tag82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83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84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85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86.xml><?xml version="1.0" encoding="utf-8"?>
<p:tagLst xmlns:p="http://schemas.openxmlformats.org/presentationml/2006/main">
  <p:tag name="KSO_WM_UNIT_TEXT" val="Renewal Risk Tabl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87.xml><?xml version="1.0" encoding="utf-8"?>
<p:tagLst xmlns:p="http://schemas.openxmlformats.org/presentationml/2006/main">
  <p:tag name="KSO_WM_SLIDE_TYPE" val="text"/>
  <p:tag name="KSO_WM_BEAUTIFY_FLAG" val="#wm#"/>
  <p:tag name="KSO_WM_SLIDE_ID" val="custom20230244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TEMPLATE_CATEGORY" val="custom"/>
  <p:tag name="KSO_WM_TEMPLATE_INDEX" val="20230244"/>
  <p:tag name="KSO_WM_SLIDE_SUBTYPE" val="pureTxt"/>
  <p:tag name="KSO_WM_SLIDE_SIZE" val="863*466"/>
  <p:tag name="KSO_WM_SLIDE_POSITION" val="47*25"/>
  <p:tag name="KSO_WM_SLIDE_LAYOUT" val="a_f"/>
  <p:tag name="KSO_WM_SLIDE_LAYOUT_CNT" val="1_1"/>
  <p:tag name="KSO_WM_SPECIAL_SOURCE" val="bdnull"/>
  <p:tag name="KSO_WM_SLIDE_LAYOUT_NAME" val="标题和内容"/>
</p:tagLst>
</file>

<file path=ppt/tags/tag88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89.xml><?xml version="1.0" encoding="utf-8"?>
<p:tagLst xmlns:p="http://schemas.openxmlformats.org/presentationml/2006/main">
  <p:tag name="KSO_WM_UNIT_INDEX" val="3"/>
  <p:tag name="KSO_WM_UNIT_TYPE" val="β"/>
  <p:tag name="KSO_WM_BEAUTIFY_FLAG" val="#wm#"/>
</p:tagLst>
</file>

<file path=ppt/tags/tag90.xml><?xml version="1.0" encoding="utf-8"?>
<p:tagLst xmlns:p="http://schemas.openxmlformats.org/presentationml/2006/main">
  <p:tag name="KSO_WM_UNIT_TEXT" val="Executive Summary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91.xml><?xml version="1.0" encoding="utf-8"?>
<p:tagLst xmlns:p="http://schemas.openxmlformats.org/presentationml/2006/main">
  <p:tag name="KSO_WM_SLIDE_TYPE" val="text"/>
  <p:tag name="KSO_WM_BEAUTIFY_FLAG" val="#wm#"/>
  <p:tag name="KSO_WM_SLIDE_ID" val="custom20230244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TEMPLATE_CATEGORY" val="custom"/>
  <p:tag name="KSO_WM_TEMPLATE_INDEX" val="20230244"/>
  <p:tag name="KSO_WM_SLIDE_SUBTYPE" val="pureTxt"/>
  <p:tag name="KSO_WM_SLIDE_SIZE" val="863*466"/>
  <p:tag name="KSO_WM_SLIDE_POSITION" val="47*25"/>
  <p:tag name="KSO_WM_SLIDE_LAYOUT" val="a_f"/>
  <p:tag name="KSO_WM_SLIDE_LAYOUT_CNT" val="1_1"/>
  <p:tag name="KSO_WM_SPECIAL_SOURCE" val="bdnull"/>
  <p:tag name="KSO_WM_SLIDE_LAYOUT_NAME" val="标题和内容"/>
</p:tagLst>
</file>

<file path=ppt/tags/tag92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93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94.xml><?xml version="1.0" encoding="utf-8"?>
<p:tagLst xmlns:p="http://schemas.openxmlformats.org/presentationml/2006/main">
  <p:tag name="KSO_WM_UNIT_TEXT" val="Action Register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95.xml><?xml version="1.0" encoding="utf-8"?>
<p:tagLst xmlns:p="http://schemas.openxmlformats.org/presentationml/2006/main">
  <p:tag name="KSO_WM_SLIDE_TYPE" val="text"/>
  <p:tag name="KSO_WM_BEAUTIFY_FLAG" val="#wm#"/>
  <p:tag name="KSO_WM_SLIDE_ID" val="custom20230244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TEMPLATE_CATEGORY" val="custom"/>
  <p:tag name="KSO_WM_TEMPLATE_INDEX" val="20230244"/>
  <p:tag name="KSO_WM_SLIDE_SUBTYPE" val="pureTxt"/>
  <p:tag name="KSO_WM_SLIDE_SIZE" val="863*466"/>
  <p:tag name="KSO_WM_SLIDE_POSITION" val="47*25"/>
  <p:tag name="KSO_WM_SLIDE_LAYOUT" val="a_f"/>
  <p:tag name="KSO_WM_SLIDE_LAYOUT_CNT" val="1_1"/>
  <p:tag name="KSO_WM_SPECIAL_SOURCE" val="bdnull"/>
  <p:tag name="KSO_WM_SLIDE_LAYOUT_NAME" val="标题和内容"/>
</p:tagLst>
</file>

<file path=ppt/tags/tag96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97.xml><?xml version="1.0" encoding="utf-8"?>
<p:tagLst xmlns:p="http://schemas.openxmlformats.org/presentationml/2006/main">
  <p:tag name="KSO_WM_UNIT_INDEX" val="3"/>
  <p:tag name="KSO_WM_UNIT_TYPE" val="β"/>
  <p:tag name="KSO_WM_BEAUTIFY_FLAG" val="#wm#"/>
</p:tagLst>
</file>

<file path=ppt/tags/tag98.xml><?xml version="1.0" encoding="utf-8"?>
<p:tagLst xmlns:p="http://schemas.openxmlformats.org/presentationml/2006/main">
  <p:tag name="KSO_WM_UNIT_TEXT" val="Reference - Risk Callout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99.xml><?xml version="1.0" encoding="utf-8"?>
<p:tagLst xmlns:p="http://schemas.openxmlformats.org/presentationml/2006/main">
  <p:tag name="KSO_WM_SLIDE_TYPE" val="text"/>
  <p:tag name="KSO_WM_BEAUTIFY_FLAG" val="#wm#"/>
  <p:tag name="KSO_WM_SLIDE_ID" val="custom20230244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TEMPLATE_CATEGORY" val="custom"/>
  <p:tag name="KSO_WM_TEMPLATE_INDEX" val="20230244"/>
  <p:tag name="KSO_WM_SLIDE_SUBTYPE" val="pureTxt"/>
  <p:tag name="KSO_WM_SLIDE_SIZE" val="863*466"/>
  <p:tag name="KSO_WM_SLIDE_POSITION" val="47*25"/>
  <p:tag name="KSO_WM_SLIDE_LAYOUT" val="a_f"/>
  <p:tag name="KSO_WM_SLIDE_LAYOUT_CNT" val="1_1"/>
  <p:tag name="KSO_WM_SPECIAL_SOURCE" val="bdnull"/>
  <p:tag name="KSO_WM_SLIDE_LAYOUT_NAME" val="标题和内容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蓝色简约主">
      <a:dk1>
        <a:srgbClr val="000000"/>
      </a:dk1>
      <a:lt1>
        <a:srgbClr val="FFFFFF"/>
      </a:lt1>
      <a:dk2>
        <a:srgbClr val="16468D"/>
      </a:dk2>
      <a:lt2>
        <a:srgbClr val="D2F0FB"/>
      </a:lt2>
      <a:accent1>
        <a:srgbClr val="018AFF"/>
      </a:accent1>
      <a:accent2>
        <a:srgbClr val="109BEE"/>
      </a:accent2>
      <a:accent3>
        <a:srgbClr val="16AADB"/>
      </a:accent3>
      <a:accent4>
        <a:srgbClr val="1BB8C7"/>
      </a:accent4>
      <a:accent5>
        <a:srgbClr val="1FC5B1"/>
      </a:accent5>
      <a:accent6>
        <a:srgbClr val="23D197"/>
      </a:accent6>
      <a:hlink>
        <a:srgbClr val="F128E5"/>
      </a:hlink>
      <a:folHlink>
        <a:srgbClr val="12E863"/>
      </a:folHlink>
    </a:clrScheme>
    <a:fontScheme name="自定义 16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980</Words>
  <Application>WPS 演示</Application>
  <PresentationFormat>On-screen Show (4:3)</PresentationFormat>
  <Paragraphs>142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4" baseType="lpstr">
      <vt:lpstr>Arial</vt:lpstr>
      <vt:lpstr>宋体</vt:lpstr>
      <vt:lpstr>Wingdings</vt:lpstr>
      <vt:lpstr>Arial</vt:lpstr>
      <vt:lpstr>汉仪书宋二KW</vt:lpstr>
      <vt:lpstr>Calibri</vt:lpstr>
      <vt:lpstr>Helvetica Neue</vt:lpstr>
      <vt:lpstr>微软雅黑</vt:lpstr>
      <vt:lpstr>汉仪旗黑</vt:lpstr>
      <vt:lpstr>宋体</vt:lpstr>
      <vt:lpstr>Arial Unicode MS</vt:lpstr>
      <vt:lpstr>Wingdings</vt:lpstr>
      <vt:lpstr>苹方-简</vt:lpstr>
      <vt:lpstr>MiSans Normal</vt:lpstr>
      <vt:lpstr>MiSans Heavy</vt:lpstr>
      <vt:lpstr>Office Theme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Le丶rapide</cp:lastModifiedBy>
  <cp:revision>2</cp:revision>
  <dcterms:created xsi:type="dcterms:W3CDTF">2026-06-23T06:39:01Z</dcterms:created>
  <dcterms:modified xsi:type="dcterms:W3CDTF">2026-06-23T06:39:01Z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F6037410A0ACE215052A3A6A48E427B4_42</vt:lpwstr>
  </property>
  <property fmtid="{D5CDD505-2E9C-101B-9397-08002B2CF9AE}" pid="3" name="KSOProductBuildVer">
    <vt:lpwstr>2052-12.1.24031.24031</vt:lpwstr>
  </property>
</Properties>
</file>