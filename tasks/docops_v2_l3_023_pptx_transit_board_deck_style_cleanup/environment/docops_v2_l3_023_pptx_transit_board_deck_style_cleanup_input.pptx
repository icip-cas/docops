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PRIVATE: CFO panic notes. Personal phone 555-0188. Mayor backchannel should not appear in public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style, but remove this reference slide from the final public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scratch. Do not disclose union strategy or fare evasion watchlist.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requested action, corridor, launch date, and public success metric. PRIVATE: mayor backchannel says avoid the budget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vendor dispute. Personal phone 555-0199. Remove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baseline values need the correction log. INTERNAL: ridership assumption debate is not for public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equity and accessiblity safeguards. PRIVATE: union strategy concerns go in legal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public timeline. PRIVATE: procurement gate May 18 came from old vendor dispute memo.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budget controls. PRIVATE: CFO panic notes and vendor dispute details must stay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public decision frame and confirm this deck excludes internal deliberation material. INTERNAL: remove style notes before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reading the four requested board actions. PRIVATE: mayor backchannel and personal phone should not be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8B1E1E"/>
                </a:solidFill>
                <a:latin typeface="Arial"/>
              </a:rPr>
              <a:t>DRAFT - HarborLink Fare Pilot Working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B1E1E"/>
                </a:solidFill>
                <a:latin typeface="Arial"/>
              </a:defRPr>
            </a:pPr>
            <a:r>
              <a:t>INTERNAL strategy version</a:t>
            </a:r>
          </a:p>
          <a:p>
            <a:pPr>
              <a:defRPr sz="2000">
                <a:solidFill>
                  <a:srgbClr val="8B1E1E"/>
                </a:solidFill>
                <a:latin typeface="Arial"/>
              </a:defRPr>
            </a:pPr>
            <a:r>
              <a:t>Includes mayor backchannel and vendor dispute notes</a:t>
            </a:r>
          </a:p>
          <a:p>
            <a:pPr>
              <a:defRPr sz="2000">
                <a:solidFill>
                  <a:srgbClr val="8B1E1E"/>
                </a:solidFill>
                <a:latin typeface="Arial"/>
              </a:defRPr>
            </a:pPr>
            <a:r>
              <a:t>PRIVATE: do not disclose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working deck | do not disclose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355B"/>
                </a:solidFill>
                <a:latin typeface="Georgia"/>
              </a:rPr>
              <a:t>Style Reference - Approved Public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05840" cy="164592"/>
          </a:xfrm>
          <a:prstGeom prst="rect">
            <a:avLst/>
          </a:prstGeom>
          <a:solidFill>
            <a:srgbClr val="C85A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Title slide background: 12355B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Content slide background: F7F3EA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Accent: C85A3D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Titles: Georgia bold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Footer: HarborLink Public Board Packet |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Template reference | INTERNAL scratch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E1E"/>
                </a:solidFill>
                <a:latin typeface="Arial"/>
              </a:rPr>
              <a:t>Board Actions Scratch /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Unvetted ask: keep fare evasion watchlist private</a:t>
            </a:r>
          </a:p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Union strategy talking point</a:t>
            </a:r>
          </a:p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Vendor dispute fallback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working deck | do not disclose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Decision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B2B2B"/>
                </a:solidFill>
                <a:latin typeface="Arial"/>
              </a:defRPr>
            </a:pPr>
            <a:r>
              <a:t>Recommended vote: Authorize 12-month pilot</a:t>
            </a:r>
          </a:p>
          <a:p>
            <a:pPr>
              <a:defRPr sz="1900">
                <a:solidFill>
                  <a:srgbClr val="2B2B2B"/>
                </a:solidFill>
                <a:latin typeface="Arial"/>
              </a:defRPr>
            </a:pPr>
            <a:r>
              <a:t>Corridor: Eastbay Connector</a:t>
            </a:r>
          </a:p>
          <a:p>
            <a:pPr>
              <a:defRPr sz="1900">
                <a:solidFill>
                  <a:srgbClr val="2B2B2B"/>
                </a:solidFill>
                <a:latin typeface="Arial"/>
              </a:defRPr>
            </a:pPr>
            <a:r>
              <a:t>Launch: September 14, 2026</a:t>
            </a:r>
          </a:p>
          <a:p>
            <a:pPr>
              <a:defRPr sz="1900">
                <a:solidFill>
                  <a:srgbClr val="2B2B2B"/>
                </a:solidFill>
                <a:latin typeface="Arial"/>
              </a:defRPr>
            </a:pPr>
            <a:r>
              <a:t>Public success metric: +7% ridership lift with no increase in unresolved complaints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DRAFT 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8B1E1E"/>
                </a:solidFill>
                <a:latin typeface="Arial"/>
              </a:rPr>
              <a:t>PRIVATE Vendor Dispute and CFO Panic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vendor dispute: supplier wants change order</a:t>
            </a:r>
          </a:p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CFO panic notes: reserve optics</a:t>
            </a:r>
          </a:p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personal phone: 555-0199</a:t>
            </a:r>
          </a:p>
          <a:p>
            <a:pPr>
              <a:defRPr sz="1800">
                <a:solidFill>
                  <a:srgbClr val="8B1E1E"/>
                </a:solidFill>
                <a:latin typeface="Arial"/>
              </a:defRPr>
            </a:pPr>
            <a:r>
              <a:t>do not disclose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INTERNAL working deck | do not disclose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Pilot Corridor Baseline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Working value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Board use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Pilot corridor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Eastbay Connector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Confirms draft naming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Baseline weekday ridership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18,400 average boardings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Sets denominator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Projected pilot ridership lift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+7%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Old demand case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Low-income pass enrollment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12,750 active riders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Equity reference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Working baseline |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Equity Safeguards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Safeguard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Working commitment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Zone A transfer credit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Two-hour free transfer window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Fare Policy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Zone B subsidy cap $14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$14 monthly cap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Equity Office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Accessiblity review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Two ADA field audits before launch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Customer Experience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Community clinics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B2B"/>
                          </a:solidFill>
                          <a:latin typeface="Arial"/>
                        </a:rPr>
                        <a:t>Six multilingual enrollment clinics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Outreach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Equity draft |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Implementation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43000"/>
          <a:ext cx="10789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Working date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Board authorization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July 28,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Procurement gate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May 18,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Uncorrected pre-launch checkpoint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Operator training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August 17,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Readiness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Pilot launch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September 14,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Service start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First public dashboard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October 30,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Transparency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Timeline scratch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Budget Controls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1887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Line Item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Amount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54864" marR="54864" marT="27432" marB="27432">
                    <a:solidFill>
                      <a:srgbClr val="8B1E1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Fare capping technology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$1.8M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Fixed-price task order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Enrollment support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$620K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Clinic staffing cap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Accessibility testing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$240K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Independent QA signoff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Contingency reserve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$300K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Board approval required to release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PRIVATE vendor dispute reserve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$90K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do not disclose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Budget 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595959"/>
                </a:solidFill>
                <a:latin typeface="Calibri"/>
              </a:rPr>
              <a:t>HarborLink Fare Pilot: Board Decision Packet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B2B2B"/>
                </a:solidFill>
                <a:latin typeface="Arial"/>
              </a:defRPr>
            </a:pPr>
            <a:r>
              <a:t>Public board packet</a:t>
            </a:r>
          </a:p>
          <a:p>
            <a:pPr>
              <a:defRPr sz="2200">
                <a:solidFill>
                  <a:srgbClr val="2B2B2B"/>
                </a:solidFill>
                <a:latin typeface="Arial"/>
              </a:defRPr>
            </a:pPr>
            <a:r>
              <a:t>July 2026</a:t>
            </a:r>
          </a:p>
          <a:p>
            <a:pPr>
              <a:defRPr sz="2200">
                <a:solidFill>
                  <a:srgbClr val="2B2B2B"/>
                </a:solidFill>
                <a:latin typeface="Arial"/>
              </a:defRPr>
            </a:pPr>
            <a:r>
              <a:t>Prepared for the Mobility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Draft cover footer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959"/>
                </a:solidFill>
                <a:latin typeface="Calibri"/>
              </a:rPr>
              <a:t>Board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Authorize 12-month fare capping pilot on the Eastbay Connector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Approve $2.96M public budget envelope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Direct monthly public dashboard beginning October 30, 2026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Require equity and accessiblity checkpoint before full rollout</a:t>
            </a:r>
          </a:p>
          <a:p>
            <a:pPr>
              <a:defRPr sz="1800">
                <a:solidFill>
                  <a:srgbClr val="2B2B2B"/>
                </a:solidFill>
                <a:latin typeface="Arial"/>
              </a:defRPr>
            </a:pPr>
            <a:r>
              <a:t>Scratch: keep mayor backchannel language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66666"/>
                </a:solidFill>
                <a:latin typeface="Arial"/>
              </a:rPr>
              <a:t>Action slide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