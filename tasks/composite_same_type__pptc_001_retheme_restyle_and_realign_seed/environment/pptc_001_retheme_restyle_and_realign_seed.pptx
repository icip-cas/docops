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Program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>
                <a:solidFill>
                  <a:srgbClr val="555555"/>
                </a:solidFill>
                <a:latin typeface="Calibri Light"/>
              </a:rPr>
              <a:t>Supplier backlog still affects valve-kit delivery.</a:t>
            </a:r>
          </a:p>
          <a:p>
            <a:pPr/>
            <a:r>
              <a:rPr sz="1700">
                <a:solidFill>
                  <a:srgbClr val="555555"/>
                </a:solidFill>
                <a:latin typeface="Calibri Light"/>
              </a:rPr>
              <a:t>Inspection throughput improves after weekend crew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Workstreams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920240" cy="1371600"/>
          </a:xfrm>
          <a:prstGeom prst="roundRect">
            <a:avLst/>
          </a:prstGeom>
          <a:solidFill>
            <a:srgbClr val="F4D7D0"/>
          </a:solidFill>
          <a:ln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latin typeface="Arial"/>
              </a:rPr>
              <a:t>Permits</a:t>
            </a:r>
          </a:p>
          <a:p>
            <a:pPr/>
            <a:r>
              <a:rPr sz="1300">
                <a:latin typeface="Arial"/>
              </a:rPr>
              <a:t>Reviewer queue still slow.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1920240" cy="1371600"/>
          </a:xfrm>
          <a:prstGeom prst="roundRect">
            <a:avLst/>
          </a:prstGeom>
          <a:solidFill>
            <a:srgbClr val="EADCC2"/>
          </a:solidFill>
          <a:ln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latin typeface="Arial"/>
              </a:rPr>
              <a:t>Materials</a:t>
            </a:r>
          </a:p>
          <a:p>
            <a:pPr/>
            <a:r>
              <a:rPr sz="1300">
                <a:latin typeface="Arial"/>
              </a:rPr>
              <a:t>Vendor lead time remains elevated.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1920240" cy="1371600"/>
          </a:xfrm>
          <a:prstGeom prst="roundRect">
            <a:avLst/>
          </a:prstGeom>
          <a:solidFill>
            <a:srgbClr val="E8D2C6"/>
          </a:solidFill>
          <a:ln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latin typeface="Arial"/>
              </a:rPr>
              <a:t>Startup</a:t>
            </a:r>
          </a:p>
          <a:p>
            <a:pPr/>
            <a:r>
              <a:rPr sz="1300">
                <a:latin typeface="Arial"/>
              </a:rPr>
              <a:t>Crew sequencing not yet normalized.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Closeout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444444"/>
                </a:solidFill>
                <a:latin typeface="Arial"/>
              </a:rPr>
              <a:t>Inspection backlog remains the main release risk.</a:t>
            </a:r>
          </a:p>
          <a:p>
            <a:pPr/>
            <a:r>
              <a:rPr sz="1600">
                <a:solidFill>
                  <a:srgbClr val="444444"/>
                </a:solidFill>
                <a:latin typeface="Arial"/>
              </a:rPr>
              <a:t>Client communication pack still needs cleanup.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